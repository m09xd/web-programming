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65" r:id="rId15"/>
    <p:sldId id="266" r:id="rId16"/>
    <p:sldId id="275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mudul Rakib" initials="MR" lastIdx="2" clrIdx="0">
    <p:extLst>
      <p:ext uri="{19B8F6BF-5375-455C-9EA6-DF929625EA0E}">
        <p15:presenceInfo xmlns:p15="http://schemas.microsoft.com/office/powerpoint/2012/main" userId="dd984217224bad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016" autoAdjust="0"/>
  </p:normalViewPr>
  <p:slideViewPr>
    <p:cSldViewPr snapToGrid="0">
      <p:cViewPr varScale="1">
        <p:scale>
          <a:sx n="71" d="100"/>
          <a:sy n="71" d="100"/>
        </p:scale>
        <p:origin x="109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1629B-A279-4B37-B382-62885722FC2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EDF14-5E8A-4F86-AA1F-BFD1BC2E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6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width=device-width </a:t>
            </a:r>
            <a:r>
              <a:rPr lang="en-US" dirty="0"/>
              <a:t>→ sets the width to the screen’s width.</a:t>
            </a:r>
          </a:p>
          <a:p>
            <a:r>
              <a:rPr lang="en-US" b="1" dirty="0"/>
              <a:t>initial-scale=1.0 </a:t>
            </a:r>
            <a:r>
              <a:rPr lang="en-US" dirty="0"/>
              <a:t>→ sets the zoom level to 100%.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EDF14-5E8A-4F86-AA1F-BFD1BC2E97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07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1" dirty="0"/>
              <a:t>Selected - </a:t>
            </a:r>
            <a:r>
              <a:rPr lang="en-US" sz="900" dirty="0"/>
              <a:t>This makes the option </a:t>
            </a:r>
            <a:r>
              <a:rPr lang="en-US" sz="900" b="1" dirty="0"/>
              <a:t>the default visible choice</a:t>
            </a:r>
            <a:r>
              <a:rPr lang="en-US" sz="900" dirty="0"/>
              <a:t> when the page first loads</a:t>
            </a:r>
          </a:p>
          <a:p>
            <a:r>
              <a:rPr lang="en-US" sz="1100" b="1" dirty="0"/>
              <a:t>Disabled - </a:t>
            </a:r>
            <a:r>
              <a:rPr lang="en-US" sz="1100" dirty="0"/>
              <a:t>This makes the option </a:t>
            </a:r>
            <a:r>
              <a:rPr lang="en-US" sz="1100" b="1" dirty="0"/>
              <a:t>unclickable</a:t>
            </a:r>
            <a:r>
              <a:rPr lang="en-US" sz="1100" dirty="0"/>
              <a:t> — users </a:t>
            </a:r>
            <a:r>
              <a:rPr lang="en-US" sz="1100" b="1" dirty="0"/>
              <a:t>can’t select it</a:t>
            </a:r>
            <a:r>
              <a:rPr lang="en-US" sz="1100" dirty="0"/>
              <a:t> once they open the dropdown.</a:t>
            </a:r>
          </a:p>
          <a:p>
            <a:r>
              <a:rPr lang="en-US" sz="1100" b="1" dirty="0"/>
              <a:t>Hidden - </a:t>
            </a:r>
            <a:r>
              <a:rPr lang="en-US" sz="1100" dirty="0"/>
              <a:t>This hides the option </a:t>
            </a:r>
            <a:r>
              <a:rPr lang="en-US" sz="1100" b="1" dirty="0"/>
              <a:t>from the dropdown list</a:t>
            </a:r>
            <a:r>
              <a:rPr lang="en-US" sz="1100" dirty="0"/>
              <a:t> when it’s opened</a:t>
            </a:r>
          </a:p>
          <a:p>
            <a:endParaRPr lang="en-US" sz="900" dirty="0"/>
          </a:p>
          <a:p>
            <a:endParaRPr lang="en-US" sz="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EDF14-5E8A-4F86-AA1F-BFD1BC2E97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94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F0EDB-A08F-4568-9E49-88022FEC5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5" y="1514329"/>
            <a:ext cx="8361229" cy="2098226"/>
          </a:xfrm>
        </p:spPr>
        <p:txBody>
          <a:bodyPr/>
          <a:lstStyle/>
          <a:p>
            <a:r>
              <a:rPr lang="en-US" sz="5400" dirty="0"/>
              <a:t>CSE </a:t>
            </a:r>
            <a:r>
              <a:rPr lang="en-US" sz="5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4165: </a:t>
            </a:r>
            <a:br>
              <a:rPr lang="en-US" sz="5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5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Web Programming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8931F-58F8-46CC-A3F9-298FF6B5D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4" y="3853774"/>
            <a:ext cx="6831673" cy="1086237"/>
          </a:xfrm>
        </p:spPr>
        <p:txBody>
          <a:bodyPr/>
          <a:lstStyle/>
          <a:p>
            <a:r>
              <a:rPr lang="en-US" b="1" dirty="0">
                <a:latin typeface="Microsoft PhagsPa" panose="020B0502040204020203" pitchFamily="34" charset="0"/>
              </a:rPr>
              <a:t>Mahmudul Hasan</a:t>
            </a:r>
          </a:p>
        </p:txBody>
      </p:sp>
      <p:pic>
        <p:nvPicPr>
          <p:cNvPr id="1026" name="Picture 2" descr="Html Css Icon Png Transparent PNG - 3960x1500 - Free Download on NicePNG">
            <a:extLst>
              <a:ext uri="{FF2B5EF4-FFF2-40B4-BE49-F238E27FC236}">
                <a16:creationId xmlns:a16="http://schemas.microsoft.com/office/drawing/2014/main" id="{B2C759F2-03F8-45DA-A477-BBB951226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330" y="201584"/>
            <a:ext cx="3558818" cy="14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 Mysql PNG Images, Free Download - Free Transparent PNG Logos">
            <a:extLst>
              <a:ext uri="{FF2B5EF4-FFF2-40B4-BE49-F238E27FC236}">
                <a16:creationId xmlns:a16="http://schemas.microsoft.com/office/drawing/2014/main" id="{752E751B-5DA5-40CB-8BEE-B3E4A0ABD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755" y="4814989"/>
            <a:ext cx="1156982" cy="115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Php Logo PNG Vector (EPS) Free Download">
            <a:extLst>
              <a:ext uri="{FF2B5EF4-FFF2-40B4-BE49-F238E27FC236}">
                <a16:creationId xmlns:a16="http://schemas.microsoft.com/office/drawing/2014/main" id="{79594CA8-4070-4F90-8654-BF73051B01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 descr="Php Logo PNG Transparent &amp; Vectors free download">
            <a:extLst>
              <a:ext uri="{FF2B5EF4-FFF2-40B4-BE49-F238E27FC236}">
                <a16:creationId xmlns:a16="http://schemas.microsoft.com/office/drawing/2014/main" id="{A21B9731-744B-4C60-B65D-8B0DE840C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910" y="4537453"/>
            <a:ext cx="1712053" cy="171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75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B603-8F11-4D50-BB2F-FED8E5BF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Web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E3F9F-47AC-4486-85F2-759AB2732E5B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pPr marL="0" indent="0">
              <a:buNone/>
            </a:pPr>
            <a:r>
              <a:rPr lang="en-US" dirty="0"/>
              <a:t>The process of creating websites and web applications that run on the internet.</a:t>
            </a:r>
          </a:p>
          <a:p>
            <a:pPr marL="0" indent="0">
              <a:buNone/>
            </a:pPr>
            <a:r>
              <a:rPr lang="en-US" dirty="0"/>
              <a:t>Includes both </a:t>
            </a:r>
            <a:r>
              <a:rPr lang="en-US" b="1" dirty="0">
                <a:solidFill>
                  <a:srgbClr val="0070C0"/>
                </a:solidFill>
              </a:rPr>
              <a:t>front-end (HTML, </a:t>
            </a:r>
            <a:r>
              <a:rPr lang="en-US" b="1" dirty="0">
                <a:solidFill>
                  <a:srgbClr val="0070C0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CSS</a:t>
            </a:r>
            <a:r>
              <a:rPr lang="en-US" b="1" dirty="0">
                <a:solidFill>
                  <a:srgbClr val="0070C0"/>
                </a:solidFill>
              </a:rPr>
              <a:t>, JS)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back-end (PHP, MySQL)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development.</a:t>
            </a:r>
          </a:p>
        </p:txBody>
      </p:sp>
      <p:pic>
        <p:nvPicPr>
          <p:cNvPr id="2050" name="Picture 2" descr="Browser icon design for computer and digital technology theme 14466398 PNG">
            <a:extLst>
              <a:ext uri="{FF2B5EF4-FFF2-40B4-BE49-F238E27FC236}">
                <a16:creationId xmlns:a16="http://schemas.microsoft.com/office/drawing/2014/main" id="{5AF0601F-0CCF-4C01-87AB-4E3B983A5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655" y="3925698"/>
            <a:ext cx="1941702" cy="194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esktop, pc, server icon - Free download on Iconfinder">
            <a:extLst>
              <a:ext uri="{FF2B5EF4-FFF2-40B4-BE49-F238E27FC236}">
                <a16:creationId xmlns:a16="http://schemas.microsoft.com/office/drawing/2014/main" id="{1F7C65EA-0182-4C48-A2A9-38C6F7747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333" y="4057999"/>
            <a:ext cx="1677099" cy="167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atabase Transparent Visuals PNG Image">
            <a:extLst>
              <a:ext uri="{FF2B5EF4-FFF2-40B4-BE49-F238E27FC236}">
                <a16:creationId xmlns:a16="http://schemas.microsoft.com/office/drawing/2014/main" id="{5C93BAD9-6C72-41E7-AB29-F2ECC80A9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844" y="4179288"/>
            <a:ext cx="1434517" cy="143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29B26D-28BB-4D70-AF57-ECE1FCC2EEE4}"/>
              </a:ext>
            </a:extLst>
          </p:cNvPr>
          <p:cNvCxnSpPr>
            <a:cxnSpLocks/>
          </p:cNvCxnSpPr>
          <p:nvPr/>
        </p:nvCxnSpPr>
        <p:spPr>
          <a:xfrm>
            <a:off x="3452327" y="4896547"/>
            <a:ext cx="1390261" cy="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9D9364-D7D7-4AA6-8CDB-4EE7C0B9DE29}"/>
              </a:ext>
            </a:extLst>
          </p:cNvPr>
          <p:cNvCxnSpPr>
            <a:cxnSpLocks/>
          </p:cNvCxnSpPr>
          <p:nvPr/>
        </p:nvCxnSpPr>
        <p:spPr>
          <a:xfrm>
            <a:off x="6096000" y="4896547"/>
            <a:ext cx="1390261" cy="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C6B006-D34D-48E6-B6AF-50585E885267}"/>
              </a:ext>
            </a:extLst>
          </p:cNvPr>
          <p:cNvSpPr txBox="1"/>
          <p:nvPr/>
        </p:nvSpPr>
        <p:spPr>
          <a:xfrm>
            <a:off x="2272579" y="56138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 Condensed" panose="020B0502040204020203" pitchFamily="34" charset="0"/>
              </a:rPr>
              <a:t>Browser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E192B4-76AC-4699-BF68-997461E4DBDC}"/>
              </a:ext>
            </a:extLst>
          </p:cNvPr>
          <p:cNvSpPr txBox="1"/>
          <p:nvPr/>
        </p:nvSpPr>
        <p:spPr>
          <a:xfrm>
            <a:off x="5051955" y="576723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 Condensed" panose="020B0502040204020203" pitchFamily="34" charset="0"/>
              </a:rPr>
              <a:t>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9EBF7B-2FC3-4449-AA78-E77375DD83C1}"/>
              </a:ext>
            </a:extLst>
          </p:cNvPr>
          <p:cNvSpPr txBox="1"/>
          <p:nvPr/>
        </p:nvSpPr>
        <p:spPr>
          <a:xfrm>
            <a:off x="7912141" y="5725811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 Condensed" panose="020B0502040204020203" pitchFamily="34" charset="0"/>
              </a:rPr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305989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21A5-7DB2-44A4-8EF2-4D016E2F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827C-E313-497A-A4CB-300E0E67F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Week 1-3: 	HTML</a:t>
            </a:r>
          </a:p>
          <a:p>
            <a:pPr marL="0" indent="0">
              <a:buNone/>
            </a:pPr>
            <a:r>
              <a:rPr lang="en-US" dirty="0"/>
              <a:t>Week 4-5: 	CSS</a:t>
            </a:r>
          </a:p>
          <a:p>
            <a:pPr marL="0" indent="0">
              <a:buNone/>
            </a:pPr>
            <a:r>
              <a:rPr lang="en-US" dirty="0"/>
              <a:t>Week 6-7: 	JavaScript</a:t>
            </a:r>
          </a:p>
          <a:p>
            <a:pPr marL="0" indent="0">
              <a:buNone/>
            </a:pPr>
            <a:r>
              <a:rPr lang="en-US" dirty="0"/>
              <a:t>Week 8-10: 	PHP</a:t>
            </a:r>
          </a:p>
          <a:p>
            <a:pPr marL="0" indent="0">
              <a:buNone/>
            </a:pPr>
            <a:r>
              <a:rPr lang="en-US" dirty="0"/>
              <a:t>Week 11-12: 	MySQL</a:t>
            </a:r>
          </a:p>
        </p:txBody>
      </p:sp>
    </p:spTree>
    <p:extLst>
      <p:ext uri="{BB962C8B-B14F-4D97-AF65-F5344CB8AC3E}">
        <p14:creationId xmlns:p14="http://schemas.microsoft.com/office/powerpoint/2010/main" val="118196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E50D-2138-41FC-B171-F0AE57C66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You’ll Be Graded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2436-4C8B-43F7-8F19-260E46A53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Attendance: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Project with Viva: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35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Prototype Presentation (Week 3): 10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Interim Demonstration (Week 8, 50% of Project): 10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Final Demonstration (Week 12, 100% of Project + Viva): 15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Midterm Exam: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30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Final Exam: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6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F43A-90C2-4C2D-834A-A62167DE0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577DF-9E21-409B-B3C3-939940A1E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group must be of 4 members.</a:t>
            </a:r>
          </a:p>
          <a:p>
            <a:pPr marL="0" indent="0">
              <a:buNone/>
            </a:pPr>
            <a:r>
              <a:rPr lang="en-US" dirty="0"/>
              <a:t>Project will be assigned by me.</a:t>
            </a:r>
          </a:p>
          <a:p>
            <a:pPr marL="0" indent="0">
              <a:buNone/>
            </a:pPr>
            <a:r>
              <a:rPr lang="en-US" dirty="0"/>
              <a:t>Prototype	-	PowerPoint /Canva/Figma</a:t>
            </a:r>
          </a:p>
          <a:p>
            <a:pPr marL="0" indent="0">
              <a:buNone/>
            </a:pPr>
            <a:r>
              <a:rPr lang="en-US" dirty="0"/>
              <a:t>Interim		-	50% Functional</a:t>
            </a:r>
          </a:p>
          <a:p>
            <a:pPr marL="0" indent="0">
              <a:buNone/>
            </a:pPr>
            <a:r>
              <a:rPr lang="en-US" dirty="0"/>
              <a:t>Final demo	-	Complete Project</a:t>
            </a:r>
          </a:p>
        </p:txBody>
      </p:sp>
    </p:spTree>
    <p:extLst>
      <p:ext uri="{BB962C8B-B14F-4D97-AF65-F5344CB8AC3E}">
        <p14:creationId xmlns:p14="http://schemas.microsoft.com/office/powerpoint/2010/main" val="196761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CC7D-2F45-47C8-8474-A46FCE06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D266-D209-4FC7-803B-CD8BB90D5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8E24B-DD3B-4BFC-B52A-E4167DEE0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88A6AF-B9DB-4236-9B3F-0768FBDD7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4531B-0C3D-4636-9EAC-2DFB70222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B66209-8FF8-467E-ADFA-2D074F398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29AD26-D3F6-4DCC-A87A-E372FD307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24D294-1B83-4215-A2DA-E4CCB0DEBB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CB570E-E8E3-45D4-A7DC-4D84EB2F01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9B4670-8DC8-45B2-8C1F-2637CBAA8C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0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114F-8092-4584-94D0-1DC4A7A0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3E65E1-1732-4DDB-9F97-63F682E59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HTML?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HyperText</a:t>
            </a:r>
            <a:r>
              <a:rPr lang="en-US" dirty="0"/>
              <a:t> Markup Language.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Backbone of all websites.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markup language is a set of markup</a:t>
            </a:r>
            <a:r>
              <a:rPr lang="en-US" b="1" dirty="0"/>
              <a:t> tags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tags </a:t>
            </a:r>
            <a:r>
              <a:rPr lang="en-US" b="1" dirty="0"/>
              <a:t>describe</a:t>
            </a:r>
            <a:r>
              <a:rPr lang="en-US" dirty="0"/>
              <a:t> document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structure web content (text, images, links, forms).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documents contain HTML tags and plain 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documents are also called web pages</a:t>
            </a:r>
          </a:p>
          <a:p>
            <a:pPr marL="0" indent="0">
              <a:buNone/>
            </a:pPr>
            <a:r>
              <a:rPr lang="en-US" dirty="0"/>
              <a:t>HTML = Structure → CSS = Style → JS = Behavior.</a:t>
            </a:r>
          </a:p>
        </p:txBody>
      </p:sp>
    </p:spTree>
    <p:extLst>
      <p:ext uri="{BB962C8B-B14F-4D97-AF65-F5344CB8AC3E}">
        <p14:creationId xmlns:p14="http://schemas.microsoft.com/office/powerpoint/2010/main" val="61704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BEF8-E16B-4F63-9DC1-B0F4B969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1A070-0174-4752-AF07-58485E672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tags are keywords (tag names) surrounded by </a:t>
            </a:r>
            <a:r>
              <a:rPr lang="en-US" b="1" dirty="0"/>
              <a:t>angle brackets </a:t>
            </a:r>
            <a:r>
              <a:rPr lang="en-US" dirty="0"/>
              <a:t>like &lt;html&gt;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tags normally </a:t>
            </a:r>
            <a:r>
              <a:rPr lang="en-US" b="1" dirty="0"/>
              <a:t>come in pairs</a:t>
            </a:r>
            <a:r>
              <a:rPr lang="en-US" dirty="0"/>
              <a:t> like &lt;b&gt; and &lt;/b&gt;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and end tags are also called </a:t>
            </a:r>
            <a:r>
              <a:rPr lang="en-US" b="1" dirty="0"/>
              <a:t>opening tags</a:t>
            </a:r>
            <a:r>
              <a:rPr lang="en-US" dirty="0"/>
              <a:t> and </a:t>
            </a:r>
            <a:r>
              <a:rPr lang="en-US" b="1" dirty="0"/>
              <a:t>closing tags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65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195B-9CCB-4743-AF67-FA6B6E32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Browsers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A677-91D9-4E0B-8559-442D8AA5B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web browser (Google Chrome,                             , Firefox) reads HTML documents and display them as web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browser does not display the HTML tags, but uses the tags to determine how the content of the HTML page is to be presented/displayed to the user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6F2302-0276-4D9B-AB38-7562A5FD3F5D}"/>
              </a:ext>
            </a:extLst>
          </p:cNvPr>
          <p:cNvSpPr txBox="1">
            <a:spLocks/>
          </p:cNvSpPr>
          <p:nvPr/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7552" lvl="2" indent="0">
              <a:buNone/>
            </a:pPr>
            <a:r>
              <a:rPr lang="en-US" sz="2000" dirty="0"/>
              <a:t>			   Internet Explorer</a:t>
            </a:r>
          </a:p>
        </p:txBody>
      </p:sp>
    </p:spTree>
    <p:extLst>
      <p:ext uri="{BB962C8B-B14F-4D97-AF65-F5344CB8AC3E}">
        <p14:creationId xmlns:p14="http://schemas.microsoft.com/office/powerpoint/2010/main" val="487670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820F-B17B-459B-B832-FAA5CF9C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PAGE STRUCTURE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C748E4-658F-43E4-A05F-6445A7237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748" y="2505075"/>
            <a:ext cx="8770904" cy="346730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E3E7DF-1771-46E8-84AC-60B74D6FB401}"/>
              </a:ext>
            </a:extLst>
          </p:cNvPr>
          <p:cNvSpPr txBox="1"/>
          <p:nvPr/>
        </p:nvSpPr>
        <p:spPr>
          <a:xfrm>
            <a:off x="1676400" y="6391275"/>
            <a:ext cx="534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HTML Codes are wrapped in the &lt;html&gt; &lt;/html&gt; tag.</a:t>
            </a:r>
          </a:p>
        </p:txBody>
      </p:sp>
    </p:spTree>
    <p:extLst>
      <p:ext uri="{BB962C8B-B14F-4D97-AF65-F5344CB8AC3E}">
        <p14:creationId xmlns:p14="http://schemas.microsoft.com/office/powerpoint/2010/main" val="417229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9D7A-8CA9-4030-BB5B-BC729677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 &lt;head&gt;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FAB6-C812-4CC0-9262-5BACB4C94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&lt;head&gt; section contains metadata — information </a:t>
            </a:r>
            <a:r>
              <a:rPr lang="en-US" i="1" dirty="0"/>
              <a:t>about</a:t>
            </a:r>
            <a:r>
              <a:rPr lang="en-US" dirty="0"/>
              <a:t> the webpage, not shown on the page itself.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Importance: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Defines document settings, styles, scripts, and metadata.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Includes tags like &lt;title&gt;, &lt;meta&gt;, &lt;link&gt;, and &lt;script&gt;.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Essential for SEO, browser configuration, and overall webpage structure.</a:t>
            </a:r>
          </a:p>
        </p:txBody>
      </p:sp>
    </p:spTree>
    <p:extLst>
      <p:ext uri="{BB962C8B-B14F-4D97-AF65-F5344CB8AC3E}">
        <p14:creationId xmlns:p14="http://schemas.microsoft.com/office/powerpoint/2010/main" val="2847726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3BC4D-ED4C-46DF-BF20-98583054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HTML &lt;title&gt;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CD71-1015-477C-82AD-CB4E9B4C3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&lt;title&gt; element:</a:t>
            </a:r>
          </a:p>
          <a:p>
            <a:pPr lvl="1"/>
            <a:r>
              <a:rPr lang="en-US" dirty="0"/>
              <a:t>defines a title in the browser toolbar</a:t>
            </a:r>
          </a:p>
          <a:p>
            <a:pPr lvl="1"/>
            <a:r>
              <a:rPr lang="en-US" dirty="0"/>
              <a:t>provides a title for the page when it is added to favorites</a:t>
            </a:r>
          </a:p>
          <a:p>
            <a:pPr lvl="1"/>
            <a:r>
              <a:rPr lang="en-US" dirty="0"/>
              <a:t>displays a title for the page in search-engine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981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F480-AE6D-4BD5-8B12-57CEEAC2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Scary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82AA1-E975-40B1-AD9C-DFB484E14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352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&lt;meta charset="UTF-8"&gt;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Sets the </a:t>
            </a:r>
            <a:r>
              <a:rPr lang="en-US" b="1" dirty="0"/>
              <a:t>character encoding</a:t>
            </a:r>
            <a:r>
              <a:rPr lang="en-US" dirty="0"/>
              <a:t> for the webpage to UTF-8.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UTF-8 supports </a:t>
            </a:r>
            <a:r>
              <a:rPr lang="en-US" b="1" dirty="0"/>
              <a:t>most languages and symbols</a:t>
            </a:r>
            <a:r>
              <a:rPr lang="en-US" dirty="0"/>
              <a:t> (e.g., English, Bengali, Arabic, emojis).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text is displayed correctly — without weird question marks (�).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&lt;meta name="viewport" content="width=device-width, initial-scale=1.0"&gt;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Tells the browser how to </a:t>
            </a:r>
            <a:r>
              <a:rPr lang="en-US" b="1" dirty="0"/>
              <a:t>control the page’s dimensions and scaling</a:t>
            </a:r>
            <a:r>
              <a:rPr lang="en-US" dirty="0"/>
              <a:t> on different devices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responsive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sure your page adjusts to fit different screen widths.</a:t>
            </a:r>
          </a:p>
        </p:txBody>
      </p:sp>
    </p:spTree>
    <p:extLst>
      <p:ext uri="{BB962C8B-B14F-4D97-AF65-F5344CB8AC3E}">
        <p14:creationId xmlns:p14="http://schemas.microsoft.com/office/powerpoint/2010/main" val="1279911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914F-07AE-4F64-BF1E-E0DFF90C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A1201-A9AC-47D0-89FC-8EBDFB27E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HTML Headings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headings are defined with the &lt;h1&gt; to &lt;h6&gt; tags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</a:t>
            </a:r>
          </a:p>
          <a:p>
            <a:pPr marL="0" indent="0" algn="ctr">
              <a:buNone/>
            </a:pPr>
            <a:r>
              <a:rPr lang="en-US" dirty="0"/>
              <a:t>&lt;h1&gt;This is a heading&lt;/h1&gt;</a:t>
            </a:r>
            <a:br>
              <a:rPr lang="en-US" dirty="0"/>
            </a:br>
            <a:r>
              <a:rPr lang="en-US" dirty="0"/>
              <a:t>&lt;h2&gt;This is a heading&lt;/h2&gt;</a:t>
            </a:r>
            <a:br>
              <a:rPr lang="en-US" dirty="0"/>
            </a:br>
            <a:r>
              <a:rPr lang="en-US" dirty="0"/>
              <a:t>&lt;h3&gt;This is a heading&lt;/h3&gt;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876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914F-07AE-4F64-BF1E-E0DFF90C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A1201-A9AC-47D0-89FC-8EBDFB27E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27044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HTML Paragraphs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paragraphs are defined with the &lt;p&gt; tag.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			&lt;p&gt;This is a paragraph.&lt;/p&gt;</a:t>
            </a:r>
            <a:br>
              <a:rPr lang="en-US" dirty="0"/>
            </a:br>
            <a:r>
              <a:rPr lang="en-US" dirty="0"/>
              <a:t>			&lt;p&gt;This is another paragraph.&lt;/p&gt;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HTML Line Breaks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the &lt;</a:t>
            </a:r>
            <a:r>
              <a:rPr lang="en-US" dirty="0" err="1"/>
              <a:t>br</a:t>
            </a:r>
            <a:r>
              <a:rPr lang="en-US" dirty="0"/>
              <a:t>&gt; tag if you want a new 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&lt;</a:t>
            </a:r>
            <a:r>
              <a:rPr lang="en-US" dirty="0" err="1"/>
              <a:t>br</a:t>
            </a:r>
            <a:r>
              <a:rPr lang="en-US" dirty="0"/>
              <a:t>&gt; element is an empty HTML element. It has no end tag.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HTML Comment</a:t>
            </a:r>
          </a:p>
          <a:p>
            <a:pPr marL="0" indent="0">
              <a:buNone/>
            </a:pPr>
            <a:r>
              <a:rPr lang="en-US" dirty="0"/>
              <a:t>&lt;!-- This is a comment --&gt;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737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0A72-6743-4771-AA93-E7A2F108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 Text Formatting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466A18-A49D-417D-A352-92CC261A1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459" y="2286000"/>
            <a:ext cx="8921707" cy="364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6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5850-6F86-47F0-88FB-EF0A9D37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 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68BC-6603-4F6A-96A0-913348E8F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077450" cy="3581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Defined with the &lt;table&gt; tag.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table is divided into rows &lt;tr&gt; tag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row is divided intro data cells &lt;td&gt; tag.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 &lt;td&gt; tag can contain text, links, images, lists, forms, other tables,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48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692C-DFD1-4010-9968-52CF66BF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Input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F8F0-D6B8-4092-BF8F-266458376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&lt;input&gt; element is used to select user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&lt;input&gt; element can be of type text field, checkbox, password, radio button, file,  submit button, and more.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48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80EC-63C2-40A0-9C37-C5B4F276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Element - &lt;select&gt;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4FC0-C20B-4793-8C4E-2C18C7046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886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let users </a:t>
            </a:r>
            <a:r>
              <a:rPr lang="en-US" b="1" dirty="0"/>
              <a:t>choose one option</a:t>
            </a:r>
            <a:r>
              <a:rPr lang="en-US" dirty="0"/>
              <a:t> (or multiple if allowed).</a:t>
            </a:r>
          </a:p>
          <a:p>
            <a:pPr marL="0" indent="0">
              <a:buNone/>
            </a:pPr>
            <a:r>
              <a:rPr lang="en-US" dirty="0"/>
              <a:t>&lt;select&gt;</a:t>
            </a:r>
          </a:p>
          <a:p>
            <a:pPr marL="0" indent="0">
              <a:buNone/>
            </a:pPr>
            <a:r>
              <a:rPr lang="en-US" dirty="0"/>
              <a:t>  &lt;option&gt;Bangladesh&lt;/option&gt;</a:t>
            </a:r>
          </a:p>
          <a:p>
            <a:pPr marL="0" indent="0">
              <a:buNone/>
            </a:pPr>
            <a:r>
              <a:rPr lang="en-US" dirty="0"/>
              <a:t>  &lt;option&gt;United States&lt;/option&gt;</a:t>
            </a:r>
          </a:p>
          <a:p>
            <a:pPr marL="0" indent="0">
              <a:buNone/>
            </a:pPr>
            <a:r>
              <a:rPr lang="en-US" dirty="0"/>
              <a:t>  &lt;option&gt;Japan&lt;/option&gt;</a:t>
            </a:r>
          </a:p>
          <a:p>
            <a:pPr marL="0" indent="0">
              <a:buNone/>
            </a:pPr>
            <a:r>
              <a:rPr lang="en-US" dirty="0"/>
              <a:t>&lt;/select&gt;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b="1" dirty="0"/>
              <a:t>multiple</a:t>
            </a:r>
            <a:r>
              <a:rPr lang="en-US" dirty="0"/>
              <a:t> inside &lt;select&gt; to allow multiple selections.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i="0" dirty="0"/>
              <a:t>&lt;select multiple&gt;</a:t>
            </a:r>
          </a:p>
        </p:txBody>
      </p:sp>
    </p:spTree>
    <p:extLst>
      <p:ext uri="{BB962C8B-B14F-4D97-AF65-F5344CB8AC3E}">
        <p14:creationId xmlns:p14="http://schemas.microsoft.com/office/powerpoint/2010/main" val="1773978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728780-A7ED-4467-B0EB-2421948F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4F7E4-CFCF-44F6-81F7-10E64B9F9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https://www.w3schools.com/html/</a:t>
            </a:r>
            <a:endParaRPr lang="en-US" dirty="0"/>
          </a:p>
          <a:p>
            <a:r>
              <a:rPr lang="en-US" dirty="0"/>
              <a:t>ELMS</a:t>
            </a:r>
          </a:p>
        </p:txBody>
      </p:sp>
    </p:spTree>
    <p:extLst>
      <p:ext uri="{BB962C8B-B14F-4D97-AF65-F5344CB8AC3E}">
        <p14:creationId xmlns:p14="http://schemas.microsoft.com/office/powerpoint/2010/main" val="413060395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{4394F6C1-E8B8-4D63-BD15-BEE7F0F6B212}TFc3084226-2d0c-440f-9f46-6b48c7a7f670e6ba4a85-fc4a2881d6b3</Template>
  <TotalTime>156</TotalTime>
  <Words>946</Words>
  <Application>Microsoft Office PowerPoint</Application>
  <PresentationFormat>Widescreen</PresentationFormat>
  <Paragraphs>116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Bahnschrift SemiBold Condensed</vt:lpstr>
      <vt:lpstr>Calibri</vt:lpstr>
      <vt:lpstr>Franklin Gothic Book</vt:lpstr>
      <vt:lpstr>Microsoft PhagsPa</vt:lpstr>
      <vt:lpstr>Wingdings</vt:lpstr>
      <vt:lpstr>Crop</vt:lpstr>
      <vt:lpstr>CSE 4165:  Web Programming</vt:lpstr>
      <vt:lpstr>What is Web Programming?</vt:lpstr>
      <vt:lpstr>Lab Contents</vt:lpstr>
      <vt:lpstr>How You’ll Be Graded</vt:lpstr>
      <vt:lpstr>Project Details</vt:lpstr>
      <vt:lpstr> </vt:lpstr>
      <vt:lpstr>HTML</vt:lpstr>
      <vt:lpstr>HTML TAGS</vt:lpstr>
      <vt:lpstr>Web Browsers</vt:lpstr>
      <vt:lpstr>HTML PAGE STRUCTURE</vt:lpstr>
      <vt:lpstr>HTML &lt;head&gt;</vt:lpstr>
      <vt:lpstr>The HTML &lt;title&gt; Element</vt:lpstr>
      <vt:lpstr>Scary Stuff</vt:lpstr>
      <vt:lpstr>HTML BASICS</vt:lpstr>
      <vt:lpstr>HTML BASICS</vt:lpstr>
      <vt:lpstr>HTML Text Formatting </vt:lpstr>
      <vt:lpstr>HTML Tables</vt:lpstr>
      <vt:lpstr>HTML Input Element</vt:lpstr>
      <vt:lpstr>HTML Element - &lt;select&gt;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4165:  Web Programming</dc:title>
  <dc:creator>Mahmudul Rakib</dc:creator>
  <cp:lastModifiedBy>Admin</cp:lastModifiedBy>
  <cp:revision>21</cp:revision>
  <dcterms:created xsi:type="dcterms:W3CDTF">2025-11-12T03:58:05Z</dcterms:created>
  <dcterms:modified xsi:type="dcterms:W3CDTF">2026-03-01T03:14:55Z</dcterms:modified>
</cp:coreProperties>
</file>